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11B2B"/>
                </a:solidFill>
                <a:latin typeface="微软雅黑"/>
              </a:rPr>
              <a:t>基于大语言模型的交互式小说重构平台的设计与实现</a:t>
            </a:r>
            <a:endParaRPr sz="36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B5563"/>
                </a:solidFill>
                <a:latin typeface="微软雅黑"/>
              </a:rPr>
              <a:t>中期答辩汇报（蓝白简约版）</a:t>
            </a:r>
            <a:endParaRPr sz="2000">
              <a:solidFill>
                <a:srgbClr val="4B5563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微软雅黑"/>
              </a:defRPr>
            </a:pPr>
            <a:r>
              <a:t>汇报人：__________    指导教师：__________</a:t>
            </a:r>
          </a:p>
          <a:p>
            <a:pPr>
              <a:defRPr sz="1800">
                <a:solidFill>
                  <a:srgbClr val="4B5563"/>
                </a:solidFill>
                <a:latin typeface="微软雅黑"/>
              </a:defRPr>
            </a:pPr>
            <a:r>
              <a:t>学院/专业：__________</a:t>
            </a:r>
          </a:p>
          <a:p>
            <a:pPr>
              <a:defRPr sz="1800">
                <a:solidFill>
                  <a:srgbClr val="4B5563"/>
                </a:solidFill>
                <a:latin typeface="微软雅黑"/>
              </a:defRPr>
            </a:pPr>
            <a:r>
              <a:t>日期：2026-04-24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汇报目录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6070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课题背景与目标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总体架构设计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关键模块实现过程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阶段性成果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课题背景与意义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6070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交互式小说创作需要“连续上下文 + 可控风格 + 角色一致性”的长程生成能力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大语言模型在续写/重构/校对方面具备强泛化能力，但工程化集成与体验仍是核心挑战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平台化思路：把提示词工程、模型路由、数据组织、可视化编辑整合为一体化工作流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研究目标与需求拆解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6FFF"/>
                </a:solidFill>
                <a:latin typeface="微软雅黑"/>
              </a:rPr>
              <a:t>总体目标</a:t>
            </a:r>
            <a:endParaRPr sz="2000" b="1">
              <a:solidFill>
                <a:srgbClr val="1E6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面向“创作/重构”的交互式小说平台：编辑—生成—校对—管理一体化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统一对接多种模型与服务，支持流式输出与可配置的写作策略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提供可演示、可部署、可扩展的工程实现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44752"/>
            <a:ext cx="5394960" cy="5577840"/>
          </a:xfrm>
          <a:prstGeom prst="roundRect">
            <a:avLst/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6FFF"/>
                </a:solidFill>
                <a:latin typeface="微软雅黑"/>
              </a:rPr>
              <a:t>核心需求</a:t>
            </a:r>
            <a:endParaRPr sz="2000" b="1">
              <a:solidFill>
                <a:srgbClr val="1E6FFF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63640" y="21031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创作能力：续写、改写、润色、角色扮演、世界观约束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内容获取：书城抓取、章节解析、细纲拆解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质量辅助：AI 内容检测（多级降级）与错字/标点校对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用户体系：注册登录、资料管理、基础鉴权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44752"/>
            <a:ext cx="5394960" cy="5577840"/>
          </a:xfrm>
          <a:prstGeom prst="roundRect">
            <a:avLst/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技术路线与技术栈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6FFF"/>
                </a:solidFill>
                <a:latin typeface="微软雅黑"/>
              </a:rPr>
              <a:t>前端/体验</a:t>
            </a:r>
            <a:endParaRPr sz="2000" b="1">
              <a:solidFill>
                <a:srgbClr val="1E6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Next.js 15 App Router + React 18 + TypeScript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Tailwind CSS + shadcn/ui：简约组件体系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流式生成：AsyncGenerator / SSE 实时渲染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本地存储：IndexedDB（正文）+ localStorage（配置/缓存）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44752"/>
            <a:ext cx="5394960" cy="5577840"/>
          </a:xfrm>
          <a:prstGeom prst="roundRect">
            <a:avLst/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6FFF"/>
                </a:solidFill>
                <a:latin typeface="微软雅黑"/>
              </a:rPr>
              <a:t>后端/工程</a:t>
            </a:r>
            <a:endParaRPr sz="2000" b="1">
              <a:solidFill>
                <a:srgbClr val="1E6FFF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63640" y="21031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API Routes：认证、书城抓取、AI 检测、生图等服务化能力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Prisma + SQLite：用户数据与演示环境快速落地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JWT（jose）+ httpOnly Cookie：会话管理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Vitest 测试 + CI/CD + Vercel 部署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44752"/>
            <a:ext cx="5394960" cy="5577840"/>
          </a:xfrm>
          <a:prstGeom prst="roundRect">
            <a:avLst/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总体架构设计（简化）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566160" cy="1828800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11B2B"/>
                </a:solidFill>
                <a:latin typeface="微软雅黑"/>
              </a:defRPr>
            </a:pPr>
            <a:r>
              <a:t>前端（Next.js 15 + React）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编辑器 / 书架 / 书城 / 个人资料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Hooks：useAI / useAIConfig / useLocalStorage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554480"/>
            <a:ext cx="3566160" cy="1828800"/>
          </a:xfrm>
          <a:prstGeom prst="roundRect">
            <a:avLst/>
          </a:prstGeom>
          <a:solidFill>
            <a:srgbClr val="F6F8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11B2B"/>
                </a:solidFill>
                <a:latin typeface="微软雅黑"/>
              </a:defRPr>
            </a:pPr>
            <a:r>
              <a:t>后端（API Routes）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/api/auth/* 认证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/api/bookstore/* 书源抓取与检测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/api/ai-image/generate 生图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657600"/>
            <a:ext cx="3566160" cy="1828800"/>
          </a:xfrm>
          <a:prstGeom prst="roundRect">
            <a:avLst/>
          </a:prstGeom>
          <a:solidFill>
            <a:srgbClr val="F3F7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11B2B"/>
                </a:solidFill>
                <a:latin typeface="微软雅黑"/>
              </a:defRPr>
            </a:pPr>
            <a:r>
              <a:t>统一 AI 调用层（UnifiedAIClient）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Provider 适配：Gemini / OpenAI-Compat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配置：AIConfigManager（localStorage）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能力：流式续写、校对、角色扮演等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554480"/>
            <a:ext cx="30175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11B2B"/>
                </a:solidFill>
                <a:latin typeface="微软雅黑"/>
              </a:defRPr>
            </a:pPr>
            <a:r>
              <a:t>外部 AI 服务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Gemini API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OpenAI 兼容：DeepSeek / Moonshot / Ollama 等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Winston AI / ZeroGPT（检测）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豆包 Web（生图）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11B2B"/>
                </a:solidFill>
                <a:latin typeface="微软雅黑"/>
              </a:defRPr>
            </a:pPr>
            <a:r>
              <a:t>数据存储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IndexedDB：书籍/章节内容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localStorage：模型配置/细纲缓存</a:t>
            </a:r>
          </a:p>
          <a:p>
            <a:pPr>
              <a:defRPr sz="1300">
                <a:solidFill>
                  <a:srgbClr val="4B5563"/>
                </a:solidFill>
                <a:latin typeface="微软雅黑"/>
              </a:defRPr>
            </a:pPr>
            <a:r>
              <a:t>SQLite + Prisma：用户信息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377440"/>
            <a:ext cx="182880" cy="36576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2377440"/>
            <a:ext cx="182880" cy="36576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4206240"/>
            <a:ext cx="182880" cy="36576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4206240"/>
            <a:ext cx="182880" cy="36576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3383280"/>
            <a:ext cx="36576" cy="27432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关键实现①：编辑器与上下文工程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6070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编辑器聚合多层上下文：写作人设 / 角色卡 / 世界书 / 章节内容（全文或摘要）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生成流程采用流式输出：边生成边展示，提升交互体验与可控性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生成结果按“分界线 + 备份”策略写入编辑器，支持撤回与二次编辑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章节内容持久化到 IndexedDB，刷新后仍可继续创作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关键实现②：统一 AI 调用与模型配置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6070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自研 UnifiedAIClient：统一模型调用接口（同步/流式），屏蔽不同供应商差异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Provider 适配：GeminiProvider、OpenAICompatibleProvider（兼容多家服务）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AIConfigManager：在 localStorage 管理 provider/model 与选中项，支持动态切换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统一错误码与健康检查：缺少 Key、网络失败等均可定位并给出友好提示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关键实现③：书城抓取与细纲拆解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6070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书源规则化：支持 CSS/JS 规则解析，必要时在 VM2 沙盒执行 JS 提取内容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章节列表与正文获取：URL 补全、去重过滤、超时控制与兜底解析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细纲拆解：把章节内容与模板化 Prompt 结合，流式生成结构化细纲并缓存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生成后的细纲可回填编辑器，形成“获取—拆解—续写”的闭环工作流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关键实现④：AI 内容检测（多级降级）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6070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统一检测接口：POST /api/bookstore/ai-detector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优先调用 Winston AI，失败则回退 ZeroGPT，再失败则使用项目内置 LLM 自判断兜底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返回统一指标：AI 概率/人类概率 + provider 标识，前端以进度条可视化呈现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通过降级链路保证在不同网络/额度条件下仍可稳定提供检测能力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用户体系与数据设计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6FFF"/>
                </a:solidFill>
                <a:latin typeface="微软雅黑"/>
              </a:rPr>
              <a:t>用户与鉴权</a:t>
            </a:r>
            <a:endParaRPr sz="2000" b="1">
              <a:solidFill>
                <a:srgbClr val="1E6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注册/登录/登出/会话读取：/api/auth/*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密码 bcryptjs 哈希；JWT（HS256）写入 httpOnly Cookie（有效期 7 天）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Profile 更新：用户名/简介/头像（Base64 预览 + 校验）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middleware.ts 预留路由保护框架，便于后续扩展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44752"/>
            <a:ext cx="5394960" cy="5577840"/>
          </a:xfrm>
          <a:prstGeom prst="roundRect">
            <a:avLst/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6FFF"/>
                </a:solidFill>
                <a:latin typeface="微软雅黑"/>
              </a:rPr>
              <a:t>数据与存储</a:t>
            </a:r>
            <a:endParaRPr sz="2000" b="1">
              <a:solidFill>
                <a:srgbClr val="1E6FFF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63640" y="21031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SQLite + Prisma：User 表（email/username 唯一约束）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IndexedDB：书籍/章节等创作数据的结构化存储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localStorage：AI 配置、书城缓存、细纲结果</a:t>
            </a:r>
          </a:p>
          <a:p>
            <a:pPr>
              <a:spcAft>
                <a:spcPts val="400"/>
              </a:spcAft>
              <a:defRPr sz="1800">
                <a:solidFill>
                  <a:srgbClr val="4B5563"/>
                </a:solidFill>
                <a:latin typeface="微软雅黑"/>
              </a:defRPr>
            </a:pPr>
            <a:r>
              <a:t>数据流清晰分层：认证与用户信息服务端管理，创作过程强调本地实时体验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44752"/>
            <a:ext cx="5394960" cy="5577840"/>
          </a:xfrm>
          <a:prstGeom prst="roundRect">
            <a:avLst/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工程化实现与部署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6070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代码组织：App Router（页面/接口）+ lib（核心能力）+ components（UI）+ hooks（状态）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测试：Vitest 覆盖关键 API（登录、资料更新等），保证核心链路可回归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CI/CD：GitHub Actions 自动化检查；Vercel 一键部署用于演示与迭代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可维护性：统一响应结构、模块边界清晰、配置与能力解耦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阶段性成果（截至目前）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6070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完成平台基础框架：书架/编辑/书城/个人资料等页面与交互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完成统一 AI 调用与多供应商适配，支持流式续写、校对等能力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完成书城抓取与细纲拆解流程，形成从“获取内容”到“重构创作”的闭环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完成 AI 检测多级降级策略与可视化展示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完成用户注册登录与资料管理（Prisma + SQLite + JWT Cookie）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B2B"/>
                </a:solidFill>
                <a:latin typeface="微软雅黑"/>
              </a:rPr>
              <a:t>未来展望</a:t>
            </a:r>
            <a:endParaRPr sz="30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6070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创作能力增强：章节级大纲规划、长文本记忆压缩、风格与角色一致性强化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知识增强：引入 RAG（世界书/设定库检索）与可视化冲突检测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平台化扩展：作品发布与社区互动、云同步与多端协作</a:t>
            </a:r>
          </a:p>
          <a:p>
            <a:pPr>
              <a:spcAft>
                <a:spcPts val="600"/>
              </a:spcAft>
              <a:defRPr sz="2000">
                <a:solidFill>
                  <a:srgbClr val="4B5563"/>
                </a:solidFill>
                <a:latin typeface="微软雅黑"/>
              </a:defRPr>
            </a:pPr>
            <a:r>
              <a:t>模型生态：更多供应商接入、自动评测与 A/B 策略、成本与效果的动态路由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11B2B"/>
                </a:solidFill>
                <a:latin typeface="微软雅黑"/>
              </a:rPr>
              <a:t>谢谢老师指导</a:t>
            </a:r>
            <a:endParaRPr sz="3600" b="1">
              <a:solidFill>
                <a:srgbClr val="111B2B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B5563"/>
                </a:solidFill>
                <a:latin typeface="微软雅黑"/>
              </a:rPr>
              <a:t>Q &amp; A</a:t>
            </a:r>
            <a:endParaRPr sz="2000">
              <a:solidFill>
                <a:srgbClr val="4B556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2621</Words>
  <Application>WPS 文字</Application>
  <PresentationFormat>On-screen Show (4:3)</PresentationFormat>
  <Paragraphs>150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nasa</cp:lastModifiedBy>
  <cp:revision>2</cp:revision>
  <dcterms:created xsi:type="dcterms:W3CDTF">2026-04-26T13:39:49Z</dcterms:created>
  <dcterms:modified xsi:type="dcterms:W3CDTF">2026-04-26T13:39:49Z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EF962BB054525297A515EE690C516DC1_42</vt:lpwstr>
  </property>
</Properties>
</file>